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62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48640"/>
            <a:ext cx="822960" cy="822960"/>
          </a:xfrm>
          <a:prstGeom prst="ellipse">
            <a:avLst/>
          </a:prstGeom>
          <a:solidFill>
            <a:srgbClr val="2A387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assets/assets/icon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0" y="7461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MACRO-TO-MARKETS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Inflation &amp; Interest Rates Shape S&amp;P 500 Performance (2016–2026)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Data Analytics Project  | 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Jason Daou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assets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1323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943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We're Answering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350000"/>
            <a:ext cx="10881360" cy="175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05840" y="2350000"/>
            <a:ext cx="10058400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have inflation (CPI) and the effective federal funds rate been associated with S&amp;P 500 performance and volatility between July 2016 and mid-2026?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05840" y="4250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rate era (2016–21)  →  Hiking cycle (2022–24)  →  Easing cycle (2024–26)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10972000" y="636800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0C8"/>
                </a:solidFill>
                <a:latin typeface="Calibri"/>
              </a:rPr>
              <a:t>2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50000"/>
            <a:ext cx="10881360" cy="850000"/>
          </a:xfrm>
          <a:prstGeom prst="rect">
            <a:avLst/>
          </a:prstGeom>
          <a:solidFill>
            <a:srgbClr val="F0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50000"/>
            <a:ext cx="10332720" cy="8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1">
                <a:solidFill>
                  <a:srgbClr val="1E2761"/>
                </a:solidFill>
                <a:latin typeface="Calibri"/>
              </a:rPr>
              <a:t>“Rate hikes are bad for stocks.” Repeated constantly — but how strong is that, really?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2286000"/>
          </a:xfrm>
          <a:prstGeom prst="rect">
            <a:avLst/>
          </a:prstGeom>
          <a:solidFill>
            <a:srgbClr val="F0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98882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assets/assets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385" y="1912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· S&amp;P Dow Jones Indices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429000" cy="2286000"/>
          </a:xfrm>
          <a:prstGeom prst="rect">
            <a:avLst/>
          </a:prstGeom>
          <a:solidFill>
            <a:srgbClr val="F0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573786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/assets/assets/icon_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425" y="19129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(Inflation)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7200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U.S. Bureau of Labor Statistics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429000" cy="2286000"/>
          </a:xfrm>
          <a:prstGeom prst="rect">
            <a:avLst/>
          </a:prstGeom>
          <a:solidFill>
            <a:srgbClr val="F0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948690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/assets/assets/icon_per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2465" y="19129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Rate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2104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Federal Reserve Board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114800"/>
            <a:ext cx="1088136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4229100" y="4297680"/>
            <a:ext cx="640080" cy="640080"/>
          </a:xfrm>
          <a:prstGeom prst="ellipse">
            <a:avLst/>
          </a:prstGeom>
          <a:solidFill>
            <a:srgbClr val="2A387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3" descr="/assets/assets/icon_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719" y="44512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4350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006340" y="4645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 &amp; statistics</a:t>
            </a:r>
            <a:endParaRPr lang="en-US" sz="1100" dirty="0"/>
          </a:p>
        </p:txBody>
      </p:sp>
      <p:sp>
        <p:nvSpPr>
          <p:cNvPr id="27" name="TextBox 26"/>
          <p:cNvSpPr txBox="1"/>
          <p:nvPr/>
        </p:nvSpPr>
        <p:spPr>
          <a:xfrm>
            <a:off x="10972000" y="636800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0C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assets/assets/icon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Relationships Actually Are</a:t>
            </a:r>
            <a:endParaRPr lang="en-US" sz="2800" dirty="0"/>
          </a:p>
        </p:txBody>
      </p:sp>
      <p:pic>
        <p:nvPicPr>
          <p:cNvPr id="5" name="Image 1" descr="/assets/assets/chart_correla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417320"/>
            <a:ext cx="521208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737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-0.49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2377440" y="17556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↔ Returns
</a:t>
            </a:r>
            <a:r>
              <a:rPr lang="en-US" sz="12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0.57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377440" y="2807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Δ ↔ Inflation
</a:t>
            </a:r>
            <a:r>
              <a:rPr lang="en-US" sz="12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reacts to inflation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-0.12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2377440" y="3858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↔ Returns
</a:t>
            </a:r>
            <a:r>
              <a:rPr lang="en-US" sz="12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972000" y="636800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0C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assets/assets/icon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Hiking Cycle Was Rougher — But...</a:t>
            </a:r>
            <a:endParaRPr lang="en-US" sz="2800" dirty="0"/>
          </a:p>
        </p:txBody>
      </p:sp>
      <p:pic>
        <p:nvPicPr>
          <p:cNvPr id="5" name="Image 1" descr="/assets/assets/chart_boxplo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1417320"/>
            <a:ext cx="5394960" cy="4343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14.3%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827532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volatility, near-zero era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16.6%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275320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volatility, hiking cycle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0" y="3749040"/>
            <a:ext cx="5120640" cy="1737360"/>
          </a:xfrm>
          <a:prstGeom prst="rect">
            <a:avLst/>
          </a:prstGeom>
          <a:solidFill>
            <a:srgbClr val="F0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6675120" y="37490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matches theory —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difference is NOT statistically significant (Welch's t-test, p = 0.203).</a:t>
            </a:r>
            <a:endParaRPr lang="en-US" sz="1500" dirty="0"/>
          </a:p>
        </p:txBody>
      </p:sp>
      <p:sp>
        <p:nvSpPr>
          <p:cNvPr id="12" name="TextBox 11"/>
          <p:cNvSpPr txBox="1"/>
          <p:nvPr/>
        </p:nvSpPr>
        <p:spPr>
          <a:xfrm>
            <a:off x="10972000" y="636800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0C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2A387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assets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1323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943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Answer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0.207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68580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statistically significant at the 5% level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" y="42976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14400" y="413308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explains only 1.5% of monthly return variance (R² = 0.015)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482803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matches financial theory — strength does not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535838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14400" y="519379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shocks (COVID-19, 2025 tariff episode) drove more volatility than rates alone</a:t>
            </a:r>
            <a:endParaRPr lang="en-US" sz="1500" dirty="0"/>
          </a:p>
        </p:txBody>
      </p:sp>
      <p:sp>
        <p:nvSpPr>
          <p:cNvPr id="13" name="TextBox 12"/>
          <p:cNvSpPr txBox="1"/>
          <p:nvPr/>
        </p:nvSpPr>
        <p:spPr>
          <a:xfrm>
            <a:off x="10972000" y="636800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3C4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assets/assets/icon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in Practice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874520" y="187452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time markets on inflation/rate correlation alone
</a:t>
            </a:r>
            <a:r>
              <a:rPr lang="en-US" sz="13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is too weak and uncertain to drive allocation by itself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874520" y="324612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volatility regime and shock events — not just rate direction
</a:t>
            </a:r>
            <a:r>
              <a:rPr lang="en-US" sz="13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and the 2025 tariff episode moved markets more than rates did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874520" y="461772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before relying on it
</a:t>
            </a:r>
            <a:r>
              <a:rPr lang="en-US" sz="1300" dirty="0">
                <a:solidFill>
                  <a:srgbClr val="89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earnings, GDP, and geopolitical risk indicators for real investment decisions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0972000" y="636800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0C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2A387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assets/assets/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1323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confirms theory.</a:t>
            </a:r>
            <a:endParaRPr lang="en-US" sz="3600" dirty="0"/>
          </a:p>
          <a:p>
            <a:pPr marL="0" indent="0" algn="l">
              <a:lnSpc>
                <a:spcPts val="42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 does not.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evidence beats a convenient narrative.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10972000" y="636800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3C4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Office PowerPoint</Application>
  <PresentationFormat>Widescreen</PresentationFormat>
  <Paragraphs>90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Jason Daou</cp:lastModifiedBy>
  <cp:revision>2</cp:revision>
  <dcterms:created xsi:type="dcterms:W3CDTF">2026-07-12T19:32:42Z</dcterms:created>
  <dcterms:modified xsi:type="dcterms:W3CDTF">2026-07-19T15:54:33Z</dcterms:modified>
</cp:coreProperties>
</file>